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7E5B-023D-CF55-32CC-2B8373F09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F8A1C-7B10-E458-9D81-CFE345864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1C497-298C-36D6-730B-B8294E169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931C-77D8-4713-B446-4CD94D8834E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D4C01-06CF-8006-A9C1-1C10F1A17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9B901-BA26-9F7A-9914-499036142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AB93-0608-4572-955F-4692E88B4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272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9BDC-0D84-4375-0475-E676E48B8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8BED0-F53C-CBA4-F79C-136D8C299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CC6CF-758B-D2EA-EA5B-4FFE833C9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931C-77D8-4713-B446-4CD94D8834E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2A35E-45A4-8893-04CE-6CA7DFFD5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86734-F71A-B443-09CF-130034555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AB93-0608-4572-955F-4692E88B4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695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FE2FE-8174-D2D0-2678-B86FA2F15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6081F-D825-138A-B595-0DDE12401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3F484-8306-9EE4-6844-3C4F8D4E8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931C-77D8-4713-B446-4CD94D8834E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CB798-99F4-4A5E-266E-6ED1E4EED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2B4F3-D922-EF06-12E7-833A6251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AB93-0608-4572-955F-4692E88B4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57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647C0-70CD-3421-5836-2454EBDAE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54770-B170-7A76-D42D-62C7471578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0A158-78B1-8A5F-6E5E-F7808B00C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31FD3-1D69-5D72-5A2A-E239A4AB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931C-77D8-4713-B446-4CD94D8834E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C7A3B-CD59-6BEC-E398-38C5C2807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080DA-D0C2-C8AA-AA62-65CDE0787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AB93-0608-4572-955F-4692E88B4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201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4879B-C7EA-6335-5E9B-57859AD7B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D3847-E6F6-5C64-C76D-32D6D0DD9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42CBB-83F4-E94A-AE1F-6B4FA7101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52C36-B39D-E693-A612-B784155097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D9CFB4-438E-8272-A294-3E086028F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50F7CA-D3A2-E248-B7A6-3F6D272C0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931C-77D8-4713-B446-4CD94D8834E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F48697-707D-9925-F8E9-F316DBCB2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1987-ED22-2E7E-298B-1753FF2D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AB93-0608-4572-955F-4692E88B4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38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BDEF-8974-712E-0236-BE456817B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64A73A-D735-3979-D477-0EA7B87C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931C-77D8-4713-B446-4CD94D8834E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15DFAF-A5D8-178E-E107-399AA66CE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8602A5-E937-047E-544B-805BEB110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AB93-0608-4572-955F-4692E88B4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562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3687A7-8A9A-91E3-E6A5-A15529CC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931C-77D8-4713-B446-4CD94D8834E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C5FCB-8E31-7821-4E0E-FD986050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AC865-A6EA-20D7-D7CF-66FE3985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AB93-0608-4572-955F-4692E88B4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958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310BA-53BC-6734-7174-43AF24E91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28FC5-2AA3-E8A3-490D-3F81C6692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E8BD6-527D-81A8-7B83-6AB65B03E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2DA0E-6D67-CF49-5CE2-F92847461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931C-77D8-4713-B446-4CD94D8834E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5A5D8-8711-F540-0AC1-7E38E5ACB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386E1-B93F-884F-0A48-989FEC74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AB93-0608-4572-955F-4692E88B4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727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2A1BA-64B1-5CAD-0675-0C2DC4DEC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9C61D8-6D1D-168B-53B4-90F6B923B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D32950-274F-6EAB-550F-FB05E24EE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27BD0-9F55-0A0C-2CCB-91A40C4DA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931C-77D8-4713-B446-4CD94D8834E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C793F-8522-FE56-7B97-B96E0B45B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68D1F-1833-C469-9390-260874693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AB93-0608-4572-955F-4692E88B4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912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899D-C323-1424-A7D6-2B8D1F7D8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0C0E0-F168-53A4-D89D-1B31DF909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A7909-E12D-CF6C-9D88-4E9FB84F6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931C-77D8-4713-B446-4CD94D8834E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13FE0-7C65-7672-E845-5EEBDEBB9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3387D-A178-312E-4FCC-117428F7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AB93-0608-4572-955F-4692E88B4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708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CE8687-7F76-894B-6A65-5775E4B0D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3D29E-F7D2-98EC-734A-511B5FDEC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D26FC-C0F3-419B-B271-8095F8A7C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931C-77D8-4713-B446-4CD94D8834E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B74CE-5225-0C1D-576D-AAC0A77E6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6E8CE-90BC-380C-7136-2C6732EFD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AB93-0608-4572-955F-4692E88B4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8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682108-7314-CDD8-082F-D341E32B2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EA91F-CF65-5D2C-B1EA-631DC8F35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6944C-F431-ABC7-DB8B-F289BC1ECF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9931C-77D8-4713-B446-4CD94D8834EC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CDE34-EBA0-A2E9-9E18-E6B747F84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32EEA-001D-8D80-D5F3-44BB576E2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DAB93-0608-4572-955F-4692E88B4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777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EBAE5-0AAA-DDC3-9F13-5521B32F2E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Bell MT" panose="02020503060305020303" pitchFamily="18" charset="0"/>
              </a:rPr>
              <a:t>Data Analysis Expressions (DAX)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2CD6C-0030-5D83-5CE4-9AAC3E5D6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2640" y="5172075"/>
            <a:ext cx="4023360" cy="563562"/>
          </a:xfrm>
        </p:spPr>
        <p:txBody>
          <a:bodyPr/>
          <a:lstStyle/>
          <a:p>
            <a:r>
              <a:rPr lang="en-IN" b="1" dirty="0">
                <a:latin typeface="Bell MT" panose="02020503060305020303" pitchFamily="18" charset="0"/>
              </a:rPr>
              <a:t>Presented By  :  Gavaskar S</a:t>
            </a:r>
          </a:p>
        </p:txBody>
      </p:sp>
    </p:spTree>
    <p:extLst>
      <p:ext uri="{BB962C8B-B14F-4D97-AF65-F5344CB8AC3E}">
        <p14:creationId xmlns:p14="http://schemas.microsoft.com/office/powerpoint/2010/main" val="2976468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FD762-1304-DBB8-2D00-50008964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What is DAX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61A68-2047-8AD0-C569-00DC0C468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25367"/>
          </a:xfrm>
        </p:spPr>
        <p:txBody>
          <a:bodyPr/>
          <a:lstStyle/>
          <a:p>
            <a:r>
              <a:rPr lang="en-US" b="1" dirty="0">
                <a:latin typeface="Bell MT" panose="02020503060305020303" pitchFamily="18" charset="0"/>
              </a:rPr>
              <a:t>DAX (Data Analysis Expressions)</a:t>
            </a:r>
            <a:r>
              <a:rPr lang="en-US" dirty="0">
                <a:latin typeface="Bell MT" panose="02020503060305020303" pitchFamily="18" charset="0"/>
              </a:rPr>
              <a:t> is the formula language used in Power BI, and Analysis Services to create custom </a:t>
            </a:r>
            <a:r>
              <a:rPr lang="en-US" b="1" dirty="0">
                <a:latin typeface="Bell MT" panose="02020503060305020303" pitchFamily="18" charset="0"/>
              </a:rPr>
              <a:t>calculations, measures, and queries</a:t>
            </a:r>
            <a:r>
              <a:rPr lang="en-US" dirty="0">
                <a:latin typeface="Bell MT" panose="02020503060305020303" pitchFamily="18" charset="0"/>
              </a:rPr>
              <a:t> on tabular data models.</a:t>
            </a:r>
          </a:p>
          <a:p>
            <a:r>
              <a:rPr lang="en-US" dirty="0">
                <a:latin typeface="Bell MT" panose="02020503060305020303" pitchFamily="18" charset="0"/>
              </a:rPr>
              <a:t>A library of functions, operators, and constants used to build formulas in Power BI.</a:t>
            </a:r>
          </a:p>
          <a:p>
            <a:r>
              <a:rPr lang="en-US" b="1" dirty="0">
                <a:latin typeface="Bell MT" panose="02020503060305020303" pitchFamily="18" charset="0"/>
              </a:rPr>
              <a:t>Purpose:</a:t>
            </a:r>
            <a:r>
              <a:rPr lang="en-US" dirty="0">
                <a:latin typeface="Bell MT" panose="02020503060305020303" pitchFamily="18" charset="0"/>
              </a:rPr>
              <a:t> Allows you to create calculated columns, measures, and tables that go beyond simple aggregations.</a:t>
            </a:r>
            <a:endParaRPr lang="en-IN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45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E5B3-71F6-8471-54E0-70F31051D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7915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latin typeface="Bell MT" panose="02020503060305020303" pitchFamily="18" charset="0"/>
              </a:rPr>
              <a:t>Types of DAX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B1F67-2AD1-CEF6-C311-E3BEEE85F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5047488"/>
          </a:xfrm>
        </p:spPr>
        <p:txBody>
          <a:bodyPr>
            <a:normAutofit fontScale="92500" lnSpcReduction="10000"/>
          </a:bodyPr>
          <a:lstStyle/>
          <a:p>
            <a:r>
              <a:rPr lang="en-IN" sz="3200" dirty="0">
                <a:latin typeface="Bell MT" panose="02020503060305020303" pitchFamily="18" charset="0"/>
              </a:rPr>
              <a:t>Aggregation Functions</a:t>
            </a:r>
          </a:p>
          <a:p>
            <a:r>
              <a:rPr lang="en-IN" sz="3200" dirty="0">
                <a:latin typeface="Bell MT" panose="02020503060305020303" pitchFamily="18" charset="0"/>
              </a:rPr>
              <a:t>Iterator Functions</a:t>
            </a:r>
          </a:p>
          <a:p>
            <a:r>
              <a:rPr lang="en-IN" sz="3200" dirty="0">
                <a:latin typeface="Bell MT" panose="02020503060305020303" pitchFamily="18" charset="0"/>
              </a:rPr>
              <a:t>Date &amp; Time Functions</a:t>
            </a:r>
          </a:p>
          <a:p>
            <a:r>
              <a:rPr lang="en-IN" sz="3200" dirty="0">
                <a:latin typeface="Bell MT" panose="02020503060305020303" pitchFamily="18" charset="0"/>
              </a:rPr>
              <a:t>Logical Functions</a:t>
            </a:r>
          </a:p>
          <a:p>
            <a:r>
              <a:rPr lang="en-IN" sz="3200" dirty="0">
                <a:latin typeface="Bell MT" panose="02020503060305020303" pitchFamily="18" charset="0"/>
              </a:rPr>
              <a:t>Text Functions</a:t>
            </a:r>
          </a:p>
          <a:p>
            <a:r>
              <a:rPr lang="en-IN" sz="3200" dirty="0">
                <a:latin typeface="Bell MT" panose="02020503060305020303" pitchFamily="18" charset="0"/>
              </a:rPr>
              <a:t>Relationship Functions</a:t>
            </a:r>
          </a:p>
          <a:p>
            <a:r>
              <a:rPr lang="en-IN" sz="3200" dirty="0">
                <a:latin typeface="Bell MT" panose="02020503060305020303" pitchFamily="18" charset="0"/>
              </a:rPr>
              <a:t>Filter Functions</a:t>
            </a:r>
          </a:p>
          <a:p>
            <a:r>
              <a:rPr lang="en-IN" sz="3200" dirty="0">
                <a:latin typeface="Bell MT" panose="02020503060305020303" pitchFamily="18" charset="0"/>
              </a:rPr>
              <a:t>Table Manipulation Functions</a:t>
            </a:r>
          </a:p>
          <a:p>
            <a:r>
              <a:rPr lang="en-IN" sz="3200" dirty="0">
                <a:latin typeface="Bell MT" panose="02020503060305020303" pitchFamily="18" charset="0"/>
              </a:rPr>
              <a:t>Time Intelligence Functions</a:t>
            </a:r>
          </a:p>
          <a:p>
            <a:r>
              <a:rPr lang="en-IN" sz="3200" dirty="0">
                <a:latin typeface="Bell MT" panose="02020503060305020303" pitchFamily="18" charset="0"/>
              </a:rPr>
              <a:t>Information Functions</a:t>
            </a:r>
          </a:p>
        </p:txBody>
      </p:sp>
    </p:spTree>
    <p:extLst>
      <p:ext uri="{BB962C8B-B14F-4D97-AF65-F5344CB8AC3E}">
        <p14:creationId xmlns:p14="http://schemas.microsoft.com/office/powerpoint/2010/main" val="3076540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EC476-AAEC-8FF7-2D30-8C6AF5211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2467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rgbClr val="000000"/>
                </a:solidFill>
                <a:latin typeface="Bell MT" panose="02020503060305020303" pitchFamily="18" charset="0"/>
              </a:rPr>
              <a:t>Aggregation Function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A5CC4C-F86E-0284-7832-AA609B83A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264309"/>
              </p:ext>
            </p:extLst>
          </p:nvPr>
        </p:nvGraphicFramePr>
        <p:xfrm>
          <a:off x="258318" y="1299261"/>
          <a:ext cx="11647170" cy="4947445"/>
        </p:xfrm>
        <a:graphic>
          <a:graphicData uri="http://schemas.openxmlformats.org/drawingml/2006/table">
            <a:tbl>
              <a:tblPr/>
              <a:tblGrid>
                <a:gridCol w="1929825">
                  <a:extLst>
                    <a:ext uri="{9D8B030D-6E8A-4147-A177-3AD203B41FA5}">
                      <a16:colId xmlns:a16="http://schemas.microsoft.com/office/drawing/2014/main" val="605960147"/>
                    </a:ext>
                  </a:extLst>
                </a:gridCol>
                <a:gridCol w="3261681">
                  <a:extLst>
                    <a:ext uri="{9D8B030D-6E8A-4147-A177-3AD203B41FA5}">
                      <a16:colId xmlns:a16="http://schemas.microsoft.com/office/drawing/2014/main" val="1680505179"/>
                    </a:ext>
                  </a:extLst>
                </a:gridCol>
                <a:gridCol w="3740265">
                  <a:extLst>
                    <a:ext uri="{9D8B030D-6E8A-4147-A177-3AD203B41FA5}">
                      <a16:colId xmlns:a16="http://schemas.microsoft.com/office/drawing/2014/main" val="233600877"/>
                    </a:ext>
                  </a:extLst>
                </a:gridCol>
                <a:gridCol w="2715399">
                  <a:extLst>
                    <a:ext uri="{9D8B030D-6E8A-4147-A177-3AD203B41FA5}">
                      <a16:colId xmlns:a16="http://schemas.microsoft.com/office/drawing/2014/main" val="3808394673"/>
                    </a:ext>
                  </a:extLst>
                </a:gridCol>
              </a:tblGrid>
              <a:tr h="3552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Bell MT" panose="02020503060305020303" pitchFamily="18" charset="0"/>
                        </a:rPr>
                        <a:t>Function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Bell MT" panose="02020503060305020303" pitchFamily="18" charset="0"/>
                        </a:rPr>
                        <a:t>Description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Bell MT" panose="02020503060305020303" pitchFamily="18" charset="0"/>
                        </a:rPr>
                        <a:t>Syntax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Bell MT" panose="02020503060305020303" pitchFamily="18" charset="0"/>
                        </a:rPr>
                        <a:t>Answer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829575"/>
                  </a:ext>
                </a:extLst>
              </a:tr>
              <a:tr h="35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Bell MT" panose="02020503060305020303" pitchFamily="18" charset="0"/>
                        </a:rPr>
                        <a:t>SUM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Bell MT" panose="02020503060305020303" pitchFamily="18" charset="0"/>
                        </a:rPr>
                        <a:t>Adds up all the values in a column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ell MT" panose="02020503060305020303" pitchFamily="18" charset="0"/>
                        </a:rPr>
                        <a:t>SUM(ColumnName)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Bell MT" panose="02020503060305020303" pitchFamily="18" charset="0"/>
                        </a:rPr>
                        <a:t>Total Sales =SUM(Superstore[Sales])</a:t>
                      </a:r>
                      <a:endParaRPr lang="en-IN" sz="1600" dirty="0">
                        <a:latin typeface="Bell MT" panose="02020503060305020303" pitchFamily="18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759999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Bell MT" panose="02020503060305020303" pitchFamily="18" charset="0"/>
                        </a:rPr>
                        <a:t>AVERAGE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Bell MT" panose="02020503060305020303" pitchFamily="18" charset="0"/>
                        </a:rPr>
                        <a:t>Calculates the average of all the values in a column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ell MT" panose="02020503060305020303" pitchFamily="18" charset="0"/>
                        </a:rPr>
                        <a:t>AVERAGE(ColumnName)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Bell MT" panose="02020503060305020303" pitchFamily="18" charset="0"/>
                        </a:rPr>
                        <a:t>Average Profit =AVERAGE(Superstore[Profit])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429370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Bell MT" panose="02020503060305020303" pitchFamily="18" charset="0"/>
                        </a:rPr>
                        <a:t>MAX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Bell MT" panose="02020503060305020303" pitchFamily="18" charset="0"/>
                        </a:rPr>
                        <a:t>Returns the largest value in a column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ell MT" panose="02020503060305020303" pitchFamily="18" charset="0"/>
                        </a:rPr>
                        <a:t>MAX(ColumnName)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Bell MT" panose="02020503060305020303" pitchFamily="18" charset="0"/>
                        </a:rPr>
                        <a:t>Maximum Sales =MAX(Superstore[Sales])</a:t>
                      </a:r>
                      <a:endParaRPr lang="en-IN" sz="1600" dirty="0">
                        <a:latin typeface="Bell MT" panose="02020503060305020303" pitchFamily="18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119913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Bell MT" panose="02020503060305020303" pitchFamily="18" charset="0"/>
                        </a:rPr>
                        <a:t>MIN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Bell MT" panose="02020503060305020303" pitchFamily="18" charset="0"/>
                        </a:rPr>
                        <a:t>Returns the smallest value in a column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ell MT" panose="02020503060305020303" pitchFamily="18" charset="0"/>
                        </a:rPr>
                        <a:t>MIN(ColumnName)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Bell MT" panose="02020503060305020303" pitchFamily="18" charset="0"/>
                        </a:rPr>
                        <a:t>Minimum Profit =MIN(Superstore[Profit])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544215"/>
                  </a:ext>
                </a:extLst>
              </a:tr>
              <a:tr h="888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Bell MT" panose="02020503060305020303" pitchFamily="18" charset="0"/>
                        </a:rPr>
                        <a:t>COUNT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Bell MT" panose="02020503060305020303" pitchFamily="18" charset="0"/>
                        </a:rPr>
                        <a:t>Counts the number of rows in a table or the number of non-blank values in a column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ell MT" panose="02020503060305020303" pitchFamily="18" charset="0"/>
                        </a:rPr>
                        <a:t>COUNT(ColumnName)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Bell MT" panose="02020503060305020303" pitchFamily="18" charset="0"/>
                        </a:rPr>
                        <a:t>Total Orders =COUNT(Superstore[Order ID])</a:t>
                      </a:r>
                      <a:endParaRPr lang="en-IN" sz="1600" dirty="0">
                        <a:latin typeface="Bell MT" panose="02020503060305020303" pitchFamily="18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316147"/>
                  </a:ext>
                </a:extLst>
              </a:tr>
              <a:tr h="888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Bell MT" panose="02020503060305020303" pitchFamily="18" charset="0"/>
                        </a:rPr>
                        <a:t>DIVIDE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Bell MT" panose="02020503060305020303" pitchFamily="18" charset="0"/>
                        </a:rPr>
                        <a:t>Performs division and handles divide-by-zero errors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ell MT" panose="02020503060305020303" pitchFamily="18" charset="0"/>
                        </a:rPr>
                        <a:t>DIVIDE(Numerator, Denominator, AlternateResult)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Bell MT" panose="02020503060305020303" pitchFamily="18" charset="0"/>
                        </a:rPr>
                        <a:t>Profit Margin =DIVIDE(SUM(Superstore[Profit]), SUM(Superstore[Sales]),0)</a:t>
                      </a:r>
                      <a:endParaRPr lang="en-IN" sz="1600" dirty="0">
                        <a:latin typeface="Bell MT" panose="02020503060305020303" pitchFamily="18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934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454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615A-FECF-1EE6-58DF-AA18D9A74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237"/>
            <a:ext cx="10515600" cy="942467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Bell MT" panose="02020503060305020303" pitchFamily="18" charset="0"/>
              </a:rPr>
              <a:t>Iterator Function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D9644B-DB77-FE81-FBE3-748ECB7DD1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196876"/>
              </p:ext>
            </p:extLst>
          </p:nvPr>
        </p:nvGraphicFramePr>
        <p:xfrm>
          <a:off x="365760" y="1024128"/>
          <a:ext cx="11567160" cy="5212080"/>
        </p:xfrm>
        <a:graphic>
          <a:graphicData uri="http://schemas.openxmlformats.org/drawingml/2006/table">
            <a:tbl>
              <a:tblPr/>
              <a:tblGrid>
                <a:gridCol w="1761732">
                  <a:extLst>
                    <a:ext uri="{9D8B030D-6E8A-4147-A177-3AD203B41FA5}">
                      <a16:colId xmlns:a16="http://schemas.microsoft.com/office/drawing/2014/main" val="3658404791"/>
                    </a:ext>
                  </a:extLst>
                </a:gridCol>
                <a:gridCol w="3569825">
                  <a:extLst>
                    <a:ext uri="{9D8B030D-6E8A-4147-A177-3AD203B41FA5}">
                      <a16:colId xmlns:a16="http://schemas.microsoft.com/office/drawing/2014/main" val="1676216222"/>
                    </a:ext>
                  </a:extLst>
                </a:gridCol>
                <a:gridCol w="3569825">
                  <a:extLst>
                    <a:ext uri="{9D8B030D-6E8A-4147-A177-3AD203B41FA5}">
                      <a16:colId xmlns:a16="http://schemas.microsoft.com/office/drawing/2014/main" val="431265052"/>
                    </a:ext>
                  </a:extLst>
                </a:gridCol>
                <a:gridCol w="2665778">
                  <a:extLst>
                    <a:ext uri="{9D8B030D-6E8A-4147-A177-3AD203B41FA5}">
                      <a16:colId xmlns:a16="http://schemas.microsoft.com/office/drawing/2014/main" val="16722112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Bell MT" panose="02020503060305020303" pitchFamily="18" charset="0"/>
                          <a:ea typeface="+mn-ea"/>
                          <a:cs typeface="+mn-cs"/>
                        </a:rPr>
                        <a:t>Function</a:t>
                      </a:r>
                      <a:endParaRPr lang="en-IN" sz="2400" b="1" kern="1200" dirty="0">
                        <a:solidFill>
                          <a:schemeClr val="tx1"/>
                        </a:solidFill>
                        <a:latin typeface="Bell MT" panose="020205030603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Bell MT" panose="02020503060305020303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Bell MT" panose="02020503060305020303" pitchFamily="18" charset="0"/>
                        </a:rPr>
                        <a:t>Syntax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Bell MT" panose="02020503060305020303" pitchFamily="18" charset="0"/>
                        </a:rPr>
                        <a:t>Answers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71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ell MT" panose="02020503060305020303" pitchFamily="18" charset="0"/>
                        </a:rPr>
                        <a:t>SUMX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Bell MT" panose="02020503060305020303" pitchFamily="18" charset="0"/>
                        </a:rPr>
                        <a:t>Returns the sum of an expression evaluated for each row in a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Bell MT" panose="02020503060305020303" pitchFamily="18" charset="0"/>
                        </a:rPr>
                        <a:t>SUMX(Table, Expression)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Bell MT" panose="02020503060305020303" pitchFamily="18" charset="0"/>
                        </a:rPr>
                        <a:t>Total Calculated Sales =SUMX(Superstore, Superstore[Quantity] * Superstore[Sales])</a:t>
                      </a:r>
                      <a:endParaRPr lang="en-IN" sz="1800" dirty="0">
                        <a:latin typeface="Bell MT" panose="020205030603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00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ell MT" panose="02020503060305020303" pitchFamily="18" charset="0"/>
                        </a:rPr>
                        <a:t>AVERAGEX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Bell MT" panose="02020503060305020303" pitchFamily="18" charset="0"/>
                        </a:rPr>
                        <a:t>Calculates the average of a set of expressions evaluated over a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Bell MT" panose="02020503060305020303" pitchFamily="18" charset="0"/>
                        </a:rPr>
                        <a:t>AVERAGEX(Table, Expression)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Bell MT" panose="02020503060305020303" pitchFamily="18" charset="0"/>
                        </a:rPr>
                        <a:t>Average Sales Per Row =AVERAGEX(Superstore, Superstore[Sales])</a:t>
                      </a:r>
                      <a:endParaRPr lang="en-IN" sz="1800" dirty="0">
                        <a:latin typeface="Bell MT" panose="020205030603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820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ell MT" panose="02020503060305020303" pitchFamily="18" charset="0"/>
                        </a:rPr>
                        <a:t>MAXX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Bell MT" panose="02020503060305020303" pitchFamily="18" charset="0"/>
                        </a:rPr>
                        <a:t>Returns the highest value from evaluating an expression for each row of a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Bell MT" panose="02020503060305020303" pitchFamily="18" charset="0"/>
                        </a:rPr>
                        <a:t>MAXX(Table, Expression, [Variant])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Bell MT" panose="02020503060305020303" pitchFamily="18" charset="0"/>
                        </a:rPr>
                        <a:t>Max Profit Row =MAXX(Superstore, Superstore[Profit])</a:t>
                      </a:r>
                      <a:endParaRPr lang="en-IN" sz="1800" dirty="0">
                        <a:latin typeface="Bell MT" panose="020205030603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576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ell MT" panose="02020503060305020303" pitchFamily="18" charset="0"/>
                        </a:rPr>
                        <a:t>MINX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Bell MT" panose="02020503060305020303" pitchFamily="18" charset="0"/>
                        </a:rPr>
                        <a:t>Returns the lowest value from evaluating an expression for each row of a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Bell MT" panose="02020503060305020303" pitchFamily="18" charset="0"/>
                        </a:rPr>
                        <a:t>MINX(Table, Expression, [Variant])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Bell MT" panose="02020503060305020303" pitchFamily="18" charset="0"/>
                        </a:rPr>
                        <a:t>Min Discount Row =MINX(Superstore, Superstore[Discount])</a:t>
                      </a:r>
                      <a:endParaRPr lang="en-IN" sz="1800" dirty="0">
                        <a:latin typeface="Bell MT" panose="020205030603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324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ell MT" panose="02020503060305020303" pitchFamily="18" charset="0"/>
                        </a:rPr>
                        <a:t>COUNTX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Bell MT" panose="02020503060305020303" pitchFamily="18" charset="0"/>
                        </a:rPr>
                        <a:t>Counts rows where an expression evaluates to a non-blank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Bell MT" panose="02020503060305020303" pitchFamily="18" charset="0"/>
                        </a:rPr>
                        <a:t>COUNTX(Table, Expression)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Bell MT" panose="02020503060305020303" pitchFamily="18" charset="0"/>
                        </a:rPr>
                        <a:t>Count Orders X =COUNTX(Superstore, Superstore[Order ID])</a:t>
                      </a:r>
                      <a:endParaRPr lang="en-IN" sz="1800" dirty="0">
                        <a:latin typeface="Bell MT" panose="020205030603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433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6413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3D435-78EC-5EE5-8162-B868FC5A9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75044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5400" dirty="0">
                <a:latin typeface="Bell MT" panose="02020503060305020303" pitchFamily="18" charset="0"/>
              </a:rPr>
              <a:t>Date &amp; </a:t>
            </a:r>
            <a:r>
              <a:rPr lang="en-IN" sz="4800" dirty="0">
                <a:latin typeface="Bell MT" panose="02020503060305020303" pitchFamily="18" charset="0"/>
              </a:rPr>
              <a:t>Time</a:t>
            </a:r>
            <a:r>
              <a:rPr lang="en-IN" sz="5400" dirty="0">
                <a:latin typeface="Bell MT" panose="02020503060305020303" pitchFamily="18" charset="0"/>
              </a:rPr>
              <a:t> Functions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850030-9F7B-3908-5D32-BAA16044E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621713"/>
              </p:ext>
            </p:extLst>
          </p:nvPr>
        </p:nvGraphicFramePr>
        <p:xfrm>
          <a:off x="73152" y="722376"/>
          <a:ext cx="11978640" cy="5714186"/>
        </p:xfrm>
        <a:graphic>
          <a:graphicData uri="http://schemas.openxmlformats.org/drawingml/2006/table">
            <a:tbl>
              <a:tblPr/>
              <a:tblGrid>
                <a:gridCol w="1171078">
                  <a:extLst>
                    <a:ext uri="{9D8B030D-6E8A-4147-A177-3AD203B41FA5}">
                      <a16:colId xmlns:a16="http://schemas.microsoft.com/office/drawing/2014/main" val="3073731112"/>
                    </a:ext>
                  </a:extLst>
                </a:gridCol>
                <a:gridCol w="4167296">
                  <a:extLst>
                    <a:ext uri="{9D8B030D-6E8A-4147-A177-3AD203B41FA5}">
                      <a16:colId xmlns:a16="http://schemas.microsoft.com/office/drawing/2014/main" val="695149068"/>
                    </a:ext>
                  </a:extLst>
                </a:gridCol>
                <a:gridCol w="4167296">
                  <a:extLst>
                    <a:ext uri="{9D8B030D-6E8A-4147-A177-3AD203B41FA5}">
                      <a16:colId xmlns:a16="http://schemas.microsoft.com/office/drawing/2014/main" val="2724173000"/>
                    </a:ext>
                  </a:extLst>
                </a:gridCol>
                <a:gridCol w="2472970">
                  <a:extLst>
                    <a:ext uri="{9D8B030D-6E8A-4147-A177-3AD203B41FA5}">
                      <a16:colId xmlns:a16="http://schemas.microsoft.com/office/drawing/2014/main" val="3364633930"/>
                    </a:ext>
                  </a:extLst>
                </a:gridCol>
              </a:tblGrid>
              <a:tr h="345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Bell MT" panose="02020503060305020303" pitchFamily="18" charset="0"/>
                        </a:rPr>
                        <a:t>Function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Bell MT" panose="02020503060305020303" pitchFamily="18" charset="0"/>
                        </a:rPr>
                        <a:t>Description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Bell MT" panose="02020503060305020303" pitchFamily="18" charset="0"/>
                        </a:rPr>
                        <a:t>Syntax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Bell MT" panose="02020503060305020303" pitchFamily="18" charset="0"/>
                        </a:rPr>
                        <a:t>Answer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143635"/>
                  </a:ext>
                </a:extLst>
              </a:tr>
              <a:tr h="787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ell MT" panose="02020503060305020303" pitchFamily="18" charset="0"/>
                        </a:rPr>
                        <a:t>CALENDAR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Bell MT" panose="02020503060305020303" pitchFamily="18" charset="0"/>
                        </a:rPr>
                        <a:t>Returns a table with a column named Date containing a continuous set of dates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latin typeface="Bell MT" panose="02020503060305020303" pitchFamily="18" charset="0"/>
                        </a:rPr>
                        <a:t>CALENDAR(StartDate, EndDate)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Bell MT" panose="02020503060305020303" pitchFamily="18" charset="0"/>
                        </a:rPr>
                        <a:t>DateTable =CALENDAR(MIN(Superstore[Order Date]), MAX(Superstore[Order Date]))</a:t>
                      </a:r>
                      <a:endParaRPr lang="en-IN" sz="1200" dirty="0">
                        <a:latin typeface="Bell MT" panose="02020503060305020303" pitchFamily="18" charset="0"/>
                      </a:endParaRP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449135"/>
                  </a:ext>
                </a:extLst>
              </a:tr>
              <a:tr h="551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Bell MT" panose="02020503060305020303" pitchFamily="18" charset="0"/>
                        </a:rPr>
                        <a:t>DATE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Bell MT" panose="02020503060305020303" pitchFamily="18" charset="0"/>
                        </a:rPr>
                        <a:t>Returns the specified date in datetime format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latin typeface="Bell MT" panose="02020503060305020303" pitchFamily="18" charset="0"/>
                        </a:rPr>
                        <a:t>DATE(Year, Month, Day)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ell MT" panose="02020503060305020303" pitchFamily="18" charset="0"/>
                        </a:rPr>
                        <a:t>Custom Date =DATE(2024,1,1)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276897"/>
                  </a:ext>
                </a:extLst>
              </a:tr>
              <a:tr h="611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Bell MT" panose="02020503060305020303" pitchFamily="18" charset="0"/>
                        </a:rPr>
                        <a:t>DATEDIFF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Bell MT" panose="02020503060305020303" pitchFamily="18" charset="0"/>
                        </a:rPr>
                        <a:t>Returns number of interval boundaries between two dates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latin typeface="Bell MT" panose="02020503060305020303" pitchFamily="18" charset="0"/>
                        </a:rPr>
                        <a:t>DATEDIFF(Date1, Date2, Interval)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Bell MT" panose="02020503060305020303" pitchFamily="18" charset="0"/>
                        </a:rPr>
                        <a:t>Shipping Days =DATEDIFF(Superstore[Order Date], Superstore[Ship Date], DAY)</a:t>
                      </a:r>
                      <a:endParaRPr lang="en-IN" sz="1200" dirty="0">
                        <a:latin typeface="Bell MT" panose="02020503060305020303" pitchFamily="18" charset="0"/>
                      </a:endParaRP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33539"/>
                  </a:ext>
                </a:extLst>
              </a:tr>
              <a:tr h="551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Bell MT" panose="02020503060305020303" pitchFamily="18" charset="0"/>
                        </a:rPr>
                        <a:t>DATEVALUE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Bell MT" panose="02020503060305020303" pitchFamily="18" charset="0"/>
                        </a:rPr>
                        <a:t>Converts text date to datetime format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latin typeface="Bell MT" panose="02020503060305020303" pitchFamily="18" charset="0"/>
                        </a:rPr>
                        <a:t>DATEVALUE(DateText)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Bell MT" panose="02020503060305020303" pitchFamily="18" charset="0"/>
                        </a:rPr>
                        <a:t>Converted Order Date =DATEVALUE(Superstore[Order Date])</a:t>
                      </a:r>
                      <a:endParaRPr lang="en-IN" sz="1200" dirty="0">
                        <a:latin typeface="Bell MT" panose="02020503060305020303" pitchFamily="18" charset="0"/>
                      </a:endParaRP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90752"/>
                  </a:ext>
                </a:extLst>
              </a:tr>
              <a:tr h="787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Bell MT" panose="02020503060305020303" pitchFamily="18" charset="0"/>
                        </a:rPr>
                        <a:t>EOMONTH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Bell MT" panose="02020503060305020303" pitchFamily="18" charset="0"/>
                        </a:rPr>
                        <a:t>Returns the last day of the month before or after a specified number of months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latin typeface="Bell MT" panose="02020503060305020303" pitchFamily="18" charset="0"/>
                        </a:rPr>
                        <a:t>EOMONTH(StartDate, Month)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Bell MT" panose="02020503060305020303" pitchFamily="18" charset="0"/>
                        </a:rPr>
                        <a:t>Month End Date =EOMONTH(Superstore[Order Date],0)</a:t>
                      </a:r>
                      <a:endParaRPr lang="en-IN" sz="1200" dirty="0">
                        <a:latin typeface="Bell MT" panose="02020503060305020303" pitchFamily="18" charset="0"/>
                      </a:endParaRP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480204"/>
                  </a:ext>
                </a:extLst>
              </a:tr>
              <a:tr h="787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Bell MT" panose="02020503060305020303" pitchFamily="18" charset="0"/>
                        </a:rPr>
                        <a:t>NETWORKDAYS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Bell MT" panose="02020503060305020303" pitchFamily="18" charset="0"/>
                        </a:rPr>
                        <a:t>Returns number of working days between two dates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latin typeface="Bell MT" panose="02020503060305020303" pitchFamily="18" charset="0"/>
                        </a:rPr>
                        <a:t>NETWORKDAYS(StartDate, EndDate, [Weekend], [Holidays])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Bell MT" panose="02020503060305020303" pitchFamily="18" charset="0"/>
                        </a:rPr>
                        <a:t>Working Days =NETWORKDAYS(Superstore[Order Date], Superstore[Ship Date])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605746"/>
                  </a:ext>
                </a:extLst>
              </a:tr>
              <a:tr h="611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Bell MT" panose="02020503060305020303" pitchFamily="18" charset="0"/>
                        </a:rPr>
                        <a:t>WEEKDAY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Bell MT" panose="02020503060305020303" pitchFamily="18" charset="0"/>
                        </a:rPr>
                        <a:t>Returns number (1–7) representing the day of the week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latin typeface="Bell MT" panose="02020503060305020303" pitchFamily="18" charset="0"/>
                        </a:rPr>
                        <a:t>WEEKDAY(Date, [ReturnType])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Bell MT" panose="02020503060305020303" pitchFamily="18" charset="0"/>
                        </a:rPr>
                        <a:t>Order Weekday =WEEKDAY(Superstore[Order Date])</a:t>
                      </a:r>
                      <a:endParaRPr lang="en-IN" sz="1200" dirty="0">
                        <a:latin typeface="Bell MT" panose="02020503060305020303" pitchFamily="18" charset="0"/>
                      </a:endParaRP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07202"/>
                  </a:ext>
                </a:extLst>
              </a:tr>
              <a:tr h="551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Bell MT" panose="02020503060305020303" pitchFamily="18" charset="0"/>
                        </a:rPr>
                        <a:t>WEEKNUM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Bell MT" panose="02020503060305020303" pitchFamily="18" charset="0"/>
                        </a:rPr>
                        <a:t>Returns the week number for a date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latin typeface="Bell MT" panose="02020503060305020303" pitchFamily="18" charset="0"/>
                        </a:rPr>
                        <a:t>WEEKNUM(Date, [ReturnType])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Bell MT" panose="02020503060305020303" pitchFamily="18" charset="0"/>
                        </a:rPr>
                        <a:t>Order Week Number =WEEKNUM(Superstore[Order Date])</a:t>
                      </a:r>
                      <a:endParaRPr lang="en-IN" sz="1200" dirty="0">
                        <a:latin typeface="Bell MT" panose="02020503060305020303" pitchFamily="18" charset="0"/>
                      </a:endParaRP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560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288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31216-DA2B-1F92-C986-F751F18E0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6083"/>
            <a:ext cx="10515600" cy="77787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Bell MT" panose="02020503060305020303" pitchFamily="18" charset="0"/>
              </a:rPr>
              <a:t>Logical</a:t>
            </a:r>
            <a:r>
              <a:rPr lang="en-IN" sz="4000" b="1" dirty="0">
                <a:latin typeface="Bell MT" panose="02020503060305020303" pitchFamily="18" charset="0"/>
              </a:rPr>
              <a:t> Functions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FDABCA-08B2-60C1-B9B7-09AB31F2C7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362202"/>
              </p:ext>
            </p:extLst>
          </p:nvPr>
        </p:nvGraphicFramePr>
        <p:xfrm>
          <a:off x="73152" y="552261"/>
          <a:ext cx="11969496" cy="6254496"/>
        </p:xfrm>
        <a:graphic>
          <a:graphicData uri="http://schemas.openxmlformats.org/drawingml/2006/table">
            <a:tbl>
              <a:tblPr/>
              <a:tblGrid>
                <a:gridCol w="1520751">
                  <a:extLst>
                    <a:ext uri="{9D8B030D-6E8A-4147-A177-3AD203B41FA5}">
                      <a16:colId xmlns:a16="http://schemas.microsoft.com/office/drawing/2014/main" val="851457868"/>
                    </a:ext>
                  </a:extLst>
                </a:gridCol>
                <a:gridCol w="3875348">
                  <a:extLst>
                    <a:ext uri="{9D8B030D-6E8A-4147-A177-3AD203B41FA5}">
                      <a16:colId xmlns:a16="http://schemas.microsoft.com/office/drawing/2014/main" val="2607066217"/>
                    </a:ext>
                  </a:extLst>
                </a:gridCol>
                <a:gridCol w="3875348">
                  <a:extLst>
                    <a:ext uri="{9D8B030D-6E8A-4147-A177-3AD203B41FA5}">
                      <a16:colId xmlns:a16="http://schemas.microsoft.com/office/drawing/2014/main" val="1708238335"/>
                    </a:ext>
                  </a:extLst>
                </a:gridCol>
                <a:gridCol w="2698049">
                  <a:extLst>
                    <a:ext uri="{9D8B030D-6E8A-4147-A177-3AD203B41FA5}">
                      <a16:colId xmlns:a16="http://schemas.microsoft.com/office/drawing/2014/main" val="678754833"/>
                    </a:ext>
                  </a:extLst>
                </a:gridCol>
              </a:tblGrid>
              <a:tr h="3574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Bell MT" panose="02020503060305020303" pitchFamily="18" charset="0"/>
                        </a:rPr>
                        <a:t>Function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Bell MT" panose="02020503060305020303" pitchFamily="18" charset="0"/>
                        </a:rPr>
                        <a:t>Description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Bell MT" panose="02020503060305020303" pitchFamily="18" charset="0"/>
                        </a:rPr>
                        <a:t>Syntax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Bell MT" panose="02020503060305020303" pitchFamily="18" charset="0"/>
                        </a:rPr>
                        <a:t>Answer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483013"/>
                  </a:ext>
                </a:extLst>
              </a:tr>
              <a:tr h="893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ell MT" panose="02020503060305020303" pitchFamily="18" charset="0"/>
                        </a:rPr>
                        <a:t>IF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Bell MT" panose="02020503060305020303" pitchFamily="18" charset="0"/>
                        </a:rPr>
                        <a:t>Checks a condition and returns value if TRUE otherwise another value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ell MT" panose="02020503060305020303" pitchFamily="18" charset="0"/>
                        </a:rPr>
                        <a:t>IF(LogicalTest, ResultIfTrue, [ResultIfFalse])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Bell MT" panose="02020503060305020303" pitchFamily="18" charset="0"/>
                        </a:rPr>
                        <a:t>Profit Status =IF(Superstore[Profit] &gt; 0,"Profit", "Loss")</a:t>
                      </a:r>
                      <a:endParaRPr lang="en-IN" sz="1400" dirty="0">
                        <a:latin typeface="Bell MT" panose="02020503060305020303" pitchFamily="18" charset="0"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107031"/>
                  </a:ext>
                </a:extLst>
              </a:tr>
              <a:tr h="1000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ell MT" panose="02020503060305020303" pitchFamily="18" charset="0"/>
                        </a:rPr>
                        <a:t>AND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Bell MT" panose="02020503060305020303" pitchFamily="18" charset="0"/>
                        </a:rPr>
                        <a:t>Returns TRUE if all arguments are TRUE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ell MT" panose="02020503060305020303" pitchFamily="18" charset="0"/>
                        </a:rPr>
                        <a:t>AND(Logic1, Logic2)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Bell MT" panose="02020503060305020303" pitchFamily="18" charset="0"/>
                        </a:rPr>
                        <a:t>High Sales Profit =IF(AND(Superstore[Sales] &gt; 500, Superstore[Profit] &gt; 100),"Good", "Average")</a:t>
                      </a:r>
                      <a:endParaRPr lang="en-IN" sz="1400" dirty="0">
                        <a:latin typeface="Bell MT" panose="02020503060305020303" pitchFamily="18" charset="0"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958259"/>
                  </a:ext>
                </a:extLst>
              </a:tr>
              <a:tr h="1000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ell MT" panose="02020503060305020303" pitchFamily="18" charset="0"/>
                        </a:rPr>
                        <a:t>OR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Bell MT" panose="02020503060305020303" pitchFamily="18" charset="0"/>
                        </a:rPr>
                        <a:t>Returns TRUE if any argument is TRUE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ell MT" panose="02020503060305020303" pitchFamily="18" charset="0"/>
                        </a:rPr>
                        <a:t>OR(Logic1, Logic2)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Bell MT" panose="02020503060305020303" pitchFamily="18" charset="0"/>
                        </a:rPr>
                        <a:t>Sales Condition =IF(OR(Superstore[Sales] &gt; 500, Superstore[Profit] &gt; 100),"Qualified", "No")</a:t>
                      </a:r>
                      <a:endParaRPr lang="en-IN" sz="1400" dirty="0">
                        <a:latin typeface="Bell MT" panose="02020503060305020303" pitchFamily="18" charset="0"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183956"/>
                  </a:ext>
                </a:extLst>
              </a:tr>
              <a:tr h="772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ell MT" panose="02020503060305020303" pitchFamily="18" charset="0"/>
                        </a:rPr>
                        <a:t>NOT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Bell MT" panose="02020503060305020303" pitchFamily="18" charset="0"/>
                        </a:rPr>
                        <a:t>Changes FALSE to TRUE or vice versa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ell MT" panose="02020503060305020303" pitchFamily="18" charset="0"/>
                        </a:rPr>
                        <a:t>NOT(Logic)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Bell MT" panose="02020503060305020303" pitchFamily="18" charset="0"/>
                        </a:rPr>
                        <a:t>Not Discounted =NOT(Superstore[Discount] &gt; 0)</a:t>
                      </a:r>
                      <a:endParaRPr lang="en-IN" sz="1400" dirty="0">
                        <a:latin typeface="Bell MT" panose="02020503060305020303" pitchFamily="18" charset="0"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006999"/>
                  </a:ext>
                </a:extLst>
              </a:tr>
              <a:tr h="1228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ell MT" panose="02020503060305020303" pitchFamily="18" charset="0"/>
                        </a:rPr>
                        <a:t>SWITCH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ell MT" panose="02020503060305020303" pitchFamily="18" charset="0"/>
                        </a:rPr>
                        <a:t>Evaluates expression against multiple values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Bell MT" panose="02020503060305020303" pitchFamily="18" charset="0"/>
                        </a:rPr>
                        <a:t>SWITCH(Expression, Value1, Result1, Value2, Result2, [Else])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Bell MT" panose="02020503060305020303" pitchFamily="18" charset="0"/>
                        </a:rPr>
                        <a:t>Region Category =SWITCH(    Superstore[Region],    "East", "Zone 1",    "West", "Zone 2",    "Central", "Zone 3",    "South", "Zone 4")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294685"/>
                  </a:ext>
                </a:extLst>
              </a:tr>
              <a:tr h="1000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ell MT" panose="02020503060305020303" pitchFamily="18" charset="0"/>
                        </a:rPr>
                        <a:t>IFERROR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Bell MT" panose="02020503060305020303" pitchFamily="18" charset="0"/>
                        </a:rPr>
                        <a:t>Returns alternative value if expression results in error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Bell MT" panose="02020503060305020303" pitchFamily="18" charset="0"/>
                        </a:rPr>
                        <a:t>IFERROR(Value, ValueIfError)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Bell MT" panose="02020503060305020303" pitchFamily="18" charset="0"/>
                        </a:rPr>
                        <a:t>Safe Profit Margin =IFERROR(DIVIDE(SUM(Superstore[Profit]),SUM(Superstore[Sales])),0)</a:t>
                      </a:r>
                      <a:endParaRPr lang="en-IN" sz="1400" dirty="0">
                        <a:latin typeface="Bell MT" panose="02020503060305020303" pitchFamily="18" charset="0"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820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191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61AEF-D95F-23A8-3C84-472C78C35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7941"/>
            <a:ext cx="10515600" cy="466853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Bell MT" panose="02020503060305020303" pitchFamily="18" charset="0"/>
              </a:rPr>
              <a:t>Text Functions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4F2F9B-79EA-B162-A348-BC80687D7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683315"/>
              </p:ext>
            </p:extLst>
          </p:nvPr>
        </p:nvGraphicFramePr>
        <p:xfrm>
          <a:off x="0" y="360606"/>
          <a:ext cx="12192000" cy="6497394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26467242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40424972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820930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009783782"/>
                    </a:ext>
                  </a:extLst>
                </a:gridCol>
              </a:tblGrid>
              <a:tr h="4069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Bell MT" panose="02020503060305020303" pitchFamily="18" charset="0"/>
                        </a:rPr>
                        <a:t>Function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Bell MT" panose="02020503060305020303" pitchFamily="18" charset="0"/>
                        </a:rPr>
                        <a:t>Description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Bell MT" panose="02020503060305020303" pitchFamily="18" charset="0"/>
                        </a:rPr>
                        <a:t>Syntax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Bell MT" panose="02020503060305020303" pitchFamily="18" charset="0"/>
                        </a:rPr>
                        <a:t>Answer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249522"/>
                  </a:ext>
                </a:extLst>
              </a:tr>
              <a:tr h="958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ell MT" panose="02020503060305020303" pitchFamily="18" charset="0"/>
                        </a:rPr>
                        <a:t>COMBINEVALUES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Bell MT" panose="02020503060305020303" pitchFamily="18" charset="0"/>
                        </a:rPr>
                        <a:t>Joins multiple text strings into one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Bell MT" panose="02020503060305020303" pitchFamily="18" charset="0"/>
                        </a:rPr>
                        <a:t>COMBINEVALUES(Delimiter, Expression1, …)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Bell MT" panose="02020503060305020303" pitchFamily="18" charset="0"/>
                        </a:rPr>
                        <a:t>Customer Key =COMBINEVALUES("-",Superstore[Customer ID],Superstore[Customer Name])</a:t>
                      </a:r>
                      <a:endParaRPr lang="en-IN" sz="1400" dirty="0">
                        <a:latin typeface="Bell MT" panose="02020503060305020303" pitchFamily="18" charset="0"/>
                      </a:endParaRP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677155"/>
                  </a:ext>
                </a:extLst>
              </a:tr>
              <a:tr h="735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ell MT" panose="02020503060305020303" pitchFamily="18" charset="0"/>
                        </a:rPr>
                        <a:t>CONCATENATE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ell MT" panose="02020503060305020303" pitchFamily="18" charset="0"/>
                        </a:rPr>
                        <a:t>Joins two text strings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Bell MT" panose="02020503060305020303" pitchFamily="18" charset="0"/>
                        </a:rPr>
                        <a:t>CONCATENATE(Text1, Text2)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ell MT" panose="02020503060305020303" pitchFamily="18" charset="0"/>
                        </a:rPr>
                        <a:t>Customer Location =CONCATENATE(Superstore[Customer Name], Superstore[City])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675306"/>
                  </a:ext>
                </a:extLst>
              </a:tr>
              <a:tr h="907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ell MT" panose="02020503060305020303" pitchFamily="18" charset="0"/>
                        </a:rPr>
                        <a:t>FIND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Bell MT" panose="02020503060305020303" pitchFamily="18" charset="0"/>
                        </a:rPr>
                        <a:t>Finds position of text within another text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Bell MT" panose="02020503060305020303" pitchFamily="18" charset="0"/>
                        </a:rPr>
                        <a:t>FIND(FindText, WithinText, [StartPosition], [NotFoundValue])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Bell MT" panose="02020503060305020303" pitchFamily="18" charset="0"/>
                        </a:rPr>
                        <a:t>Find Office Word =FIND("Office", Superstore[Category],1,0)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354989"/>
                  </a:ext>
                </a:extLst>
              </a:tr>
              <a:tr h="744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ell MT" panose="02020503060305020303" pitchFamily="18" charset="0"/>
                        </a:rPr>
                        <a:t>FORMAT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Bell MT" panose="02020503060305020303" pitchFamily="18" charset="0"/>
                        </a:rPr>
                        <a:t>Converts value to text with specified format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Bell MT" panose="02020503060305020303" pitchFamily="18" charset="0"/>
                        </a:rPr>
                        <a:t>FORMAT(Value, Format, [LocaleName])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Bell MT" panose="02020503060305020303" pitchFamily="18" charset="0"/>
                        </a:rPr>
                        <a:t>Formatted Sales =FORMAT(Superstore[Sales],"Currency")</a:t>
                      </a:r>
                      <a:endParaRPr lang="en-IN" sz="1400" dirty="0">
                        <a:latin typeface="Bell MT" panose="02020503060305020303" pitchFamily="18" charset="0"/>
                      </a:endParaRP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652268"/>
                  </a:ext>
                </a:extLst>
              </a:tr>
              <a:tr h="744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ell MT" panose="02020503060305020303" pitchFamily="18" charset="0"/>
                        </a:rPr>
                        <a:t>REPLACE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Bell MT" panose="02020503060305020303" pitchFamily="18" charset="0"/>
                        </a:rPr>
                        <a:t>Replaces part of text with different text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Bell MT" panose="02020503060305020303" pitchFamily="18" charset="0"/>
                        </a:rPr>
                        <a:t>REPLACE(OldText, StartPosition, NumCharacters, NewText)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Bell MT" panose="02020503060305020303" pitchFamily="18" charset="0"/>
                        </a:rPr>
                        <a:t>Replace Product Name =REPLACE(Superstore[Product Name],1,5,"Item")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551729"/>
                  </a:ext>
                </a:extLst>
              </a:tr>
              <a:tr h="512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ell MT" panose="02020503060305020303" pitchFamily="18" charset="0"/>
                        </a:rPr>
                        <a:t>TRIM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ell MT" panose="02020503060305020303" pitchFamily="18" charset="0"/>
                        </a:rPr>
                        <a:t>Removes extra spaces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Bell MT" panose="02020503060305020303" pitchFamily="18" charset="0"/>
                        </a:rPr>
                        <a:t>TRIM(Text)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Bell MT" panose="02020503060305020303" pitchFamily="18" charset="0"/>
                        </a:rPr>
                        <a:t>Clean Product Name =TRIM(Superstore[Product Name])</a:t>
                      </a:r>
                      <a:endParaRPr lang="en-IN" sz="1400" dirty="0">
                        <a:latin typeface="Bell MT" panose="02020503060305020303" pitchFamily="18" charset="0"/>
                      </a:endParaRP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389956"/>
                  </a:ext>
                </a:extLst>
              </a:tr>
              <a:tr h="744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Bell MT" panose="02020503060305020303" pitchFamily="18" charset="0"/>
                        </a:rPr>
                        <a:t>UPPER / LOWER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Bell MT" panose="02020503060305020303" pitchFamily="18" charset="0"/>
                        </a:rPr>
                        <a:t>Converts text to upper or lower case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Bell MT" panose="02020503060305020303" pitchFamily="18" charset="0"/>
                        </a:rPr>
                        <a:t>UPPER(Text) / LOWER(Text)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Bell MT" panose="02020503060305020303" pitchFamily="18" charset="0"/>
                        </a:rPr>
                        <a:t>Upper Product Name =UPPER(Superstore[Product Name])</a:t>
                      </a:r>
                      <a:endParaRPr lang="en-IN" sz="1400" dirty="0">
                        <a:latin typeface="Bell MT" panose="02020503060305020303" pitchFamily="18" charset="0"/>
                      </a:endParaRP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061321"/>
                  </a:ext>
                </a:extLst>
              </a:tr>
              <a:tr h="744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Bell MT" panose="02020503060305020303" pitchFamily="18" charset="0"/>
                        </a:rPr>
                        <a:t>SUBSTITUTE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Bell MT" panose="02020503060305020303" pitchFamily="18" charset="0"/>
                        </a:rPr>
                        <a:t>Replaces existing text with new text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Bell MT" panose="02020503060305020303" pitchFamily="18" charset="0"/>
                        </a:rPr>
                        <a:t>SUBSTITUTE(Text, OldText, NewText, [InstanceNumber])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Bell MT" panose="02020503060305020303" pitchFamily="18" charset="0"/>
                        </a:rPr>
                        <a:t>Replace Desk Word =SUBSTITUTE(Superstore[Product Name],"Desk", "Table")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40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702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DC3D5-12B0-582C-0560-3C7983831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133"/>
            <a:ext cx="10515600" cy="71081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dirty="0">
                <a:latin typeface="Bell MT" panose="02020503060305020303" pitchFamily="18" charset="0"/>
              </a:rPr>
              <a:t>Filter Functions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0AF7D4-EFF9-899B-9E47-755487D18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787362"/>
              </p:ext>
            </p:extLst>
          </p:nvPr>
        </p:nvGraphicFramePr>
        <p:xfrm>
          <a:off x="0" y="596391"/>
          <a:ext cx="12192000" cy="6216911"/>
        </p:xfrm>
        <a:graphic>
          <a:graphicData uri="http://schemas.openxmlformats.org/drawingml/2006/table">
            <a:tbl>
              <a:tblPr/>
              <a:tblGrid>
                <a:gridCol w="1867677">
                  <a:extLst>
                    <a:ext uri="{9D8B030D-6E8A-4147-A177-3AD203B41FA5}">
                      <a16:colId xmlns:a16="http://schemas.microsoft.com/office/drawing/2014/main" val="1282607794"/>
                    </a:ext>
                  </a:extLst>
                </a:gridCol>
                <a:gridCol w="2973854">
                  <a:extLst>
                    <a:ext uri="{9D8B030D-6E8A-4147-A177-3AD203B41FA5}">
                      <a16:colId xmlns:a16="http://schemas.microsoft.com/office/drawing/2014/main" val="1905641875"/>
                    </a:ext>
                  </a:extLst>
                </a:gridCol>
                <a:gridCol w="2973854">
                  <a:extLst>
                    <a:ext uri="{9D8B030D-6E8A-4147-A177-3AD203B41FA5}">
                      <a16:colId xmlns:a16="http://schemas.microsoft.com/office/drawing/2014/main" val="3300190388"/>
                    </a:ext>
                  </a:extLst>
                </a:gridCol>
                <a:gridCol w="4376615">
                  <a:extLst>
                    <a:ext uri="{9D8B030D-6E8A-4147-A177-3AD203B41FA5}">
                      <a16:colId xmlns:a16="http://schemas.microsoft.com/office/drawing/2014/main" val="1117000159"/>
                    </a:ext>
                  </a:extLst>
                </a:gridCol>
              </a:tblGrid>
              <a:tr h="3728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Bell MT" panose="02020503060305020303" pitchFamily="18" charset="0"/>
                        </a:rPr>
                        <a:t>Function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Bell MT" panose="02020503060305020303" pitchFamily="18" charset="0"/>
                        </a:rPr>
                        <a:t>Description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Bell MT" panose="02020503060305020303" pitchFamily="18" charset="0"/>
                        </a:rPr>
                        <a:t>Syntax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Bell MT" panose="02020503060305020303" pitchFamily="18" charset="0"/>
                        </a:rPr>
                        <a:t>Answer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264739"/>
                  </a:ext>
                </a:extLst>
              </a:tr>
              <a:tr h="44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ell MT" panose="02020503060305020303" pitchFamily="18" charset="0"/>
                        </a:rPr>
                        <a:t>ALL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Bell MT" panose="02020503060305020303" pitchFamily="18" charset="0"/>
                        </a:rPr>
                        <a:t>Removes filters from table or column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Bell MT" panose="02020503060305020303" pitchFamily="18" charset="0"/>
                        </a:rPr>
                        <a:t>ALL(TableName or ColumnName)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Bell MT" panose="02020503060305020303" pitchFamily="18" charset="0"/>
                        </a:rPr>
                        <a:t>Total Sales Overall =CALCULATE(SUM(Superstore[Sales]), ALL(Superstore))</a:t>
                      </a:r>
                      <a:endParaRPr lang="en-IN" sz="1800" dirty="0">
                        <a:latin typeface="Bell MT" panose="02020503060305020303" pitchFamily="18" charset="0"/>
                      </a:endParaRP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829808"/>
                  </a:ext>
                </a:extLst>
              </a:tr>
              <a:tr h="682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ell MT" panose="02020503060305020303" pitchFamily="18" charset="0"/>
                        </a:rPr>
                        <a:t>ALLEXCEPT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Bell MT" panose="02020503060305020303" pitchFamily="18" charset="0"/>
                        </a:rPr>
                        <a:t>Removes filters except specified columns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Bell MT" panose="02020503060305020303" pitchFamily="18" charset="0"/>
                        </a:rPr>
                        <a:t>ALLEXCEPT(TableName, ColumnName1, …)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Bell MT" panose="02020503060305020303" pitchFamily="18" charset="0"/>
                        </a:rPr>
                        <a:t>Sales By Category =CALCULATE(SUM(Superstore[Sales]),ALLEXCEPT(Superstore, Superstore[Category]))</a:t>
                      </a:r>
                      <a:endParaRPr lang="en-IN" sz="1800" dirty="0">
                        <a:latin typeface="Bell MT" panose="02020503060305020303" pitchFamily="18" charset="0"/>
                      </a:endParaRP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67387"/>
                  </a:ext>
                </a:extLst>
              </a:tr>
              <a:tr h="682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ell MT" panose="02020503060305020303" pitchFamily="18" charset="0"/>
                        </a:rPr>
                        <a:t>CALCULATE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Bell MT" panose="02020503060305020303" pitchFamily="18" charset="0"/>
                        </a:rPr>
                        <a:t>Evaluates expression in modified filter context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Bell MT" panose="02020503060305020303" pitchFamily="18" charset="0"/>
                        </a:rPr>
                        <a:t>CALCULATE(Expression, Filter1, Filter2, …)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Bell MT" panose="02020503060305020303" pitchFamily="18" charset="0"/>
                        </a:rPr>
                        <a:t>West Region Sales =CALCULATE(SUM(Superstore[Sales]),Superstore[Region] = "West")</a:t>
                      </a:r>
                      <a:endParaRPr lang="en-IN" sz="1800" dirty="0">
                        <a:latin typeface="Bell MT" panose="02020503060305020303" pitchFamily="18" charset="0"/>
                      </a:endParaRP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583941"/>
                  </a:ext>
                </a:extLst>
              </a:tr>
              <a:tr h="44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ell MT" panose="02020503060305020303" pitchFamily="18" charset="0"/>
                        </a:rPr>
                        <a:t>FILTER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ell MT" panose="02020503060305020303" pitchFamily="18" charset="0"/>
                        </a:rPr>
                        <a:t>Returns filtered table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Bell MT" panose="02020503060305020303" pitchFamily="18" charset="0"/>
                        </a:rPr>
                        <a:t>FILTER(Table, FilterExpression)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Bell MT" panose="02020503060305020303" pitchFamily="18" charset="0"/>
                        </a:rPr>
                        <a:t>High Profit Sales =CALCULATE(SUM(Superstore[Sales]),FILTER(Superstore, Superstore[Profit] &gt; 100))</a:t>
                      </a:r>
                      <a:endParaRPr lang="en-IN" sz="1800" dirty="0">
                        <a:latin typeface="Bell MT" panose="02020503060305020303" pitchFamily="18" charset="0"/>
                      </a:endParaRP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243580"/>
                  </a:ext>
                </a:extLst>
              </a:tr>
              <a:tr h="44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ell MT" panose="02020503060305020303" pitchFamily="18" charset="0"/>
                        </a:rPr>
                        <a:t>REMOVEFILTERS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Bell MT" panose="02020503060305020303" pitchFamily="18" charset="0"/>
                        </a:rPr>
                        <a:t>Clears filters from columns or tables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Bell MT" panose="02020503060305020303" pitchFamily="18" charset="0"/>
                        </a:rPr>
                        <a:t>REMOVEFILTERS(TableName, ColumnName1, …)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Bell MT" panose="02020503060305020303" pitchFamily="18" charset="0"/>
                        </a:rPr>
                        <a:t>Total Sales No Filters =CALCULATE(SUM(Superstore[Sales]), REMOVEFILTERS())</a:t>
                      </a:r>
                      <a:endParaRPr lang="en-IN" sz="1800" dirty="0">
                        <a:latin typeface="Bell MT" panose="02020503060305020303" pitchFamily="18" charset="0"/>
                      </a:endParaRP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806139"/>
                  </a:ext>
                </a:extLst>
              </a:tr>
              <a:tr h="682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ell MT" panose="02020503060305020303" pitchFamily="18" charset="0"/>
                        </a:rPr>
                        <a:t>SELECTEDVALUE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Bell MT" panose="02020503060305020303" pitchFamily="18" charset="0"/>
                        </a:rPr>
                        <a:t>Returns value from filtered context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Bell MT" panose="02020503060305020303" pitchFamily="18" charset="0"/>
                        </a:rPr>
                        <a:t>SELECTEDVALUE(ColumnName, [AlternateResult])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Bell MT" panose="02020503060305020303" pitchFamily="18" charset="0"/>
                        </a:rPr>
                        <a:t>Selected Region =SELECTEDVALUE(Superstore[Region],"No Selection")</a:t>
                      </a:r>
                      <a:endParaRPr lang="en-IN" sz="1800" dirty="0">
                        <a:latin typeface="Bell MT" panose="02020503060305020303" pitchFamily="18" charset="0"/>
                      </a:endParaRP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496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10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F7443-B613-9645-477C-D9165CE7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093"/>
            <a:ext cx="10515600" cy="741299"/>
          </a:xfrm>
        </p:spPr>
        <p:txBody>
          <a:bodyPr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Relationship Functions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867DB4-3560-5BAF-B5DD-1EDE63B0E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242270"/>
              </p:ext>
            </p:extLst>
          </p:nvPr>
        </p:nvGraphicFramePr>
        <p:xfrm>
          <a:off x="310896" y="1276382"/>
          <a:ext cx="11612880" cy="4776946"/>
        </p:xfrm>
        <a:graphic>
          <a:graphicData uri="http://schemas.openxmlformats.org/drawingml/2006/table">
            <a:tbl>
              <a:tblPr/>
              <a:tblGrid>
                <a:gridCol w="3191256">
                  <a:extLst>
                    <a:ext uri="{9D8B030D-6E8A-4147-A177-3AD203B41FA5}">
                      <a16:colId xmlns:a16="http://schemas.microsoft.com/office/drawing/2014/main" val="3992925902"/>
                    </a:ext>
                  </a:extLst>
                </a:gridCol>
                <a:gridCol w="3823208">
                  <a:extLst>
                    <a:ext uri="{9D8B030D-6E8A-4147-A177-3AD203B41FA5}">
                      <a16:colId xmlns:a16="http://schemas.microsoft.com/office/drawing/2014/main" val="1810500942"/>
                    </a:ext>
                  </a:extLst>
                </a:gridCol>
                <a:gridCol w="4598416">
                  <a:extLst>
                    <a:ext uri="{9D8B030D-6E8A-4147-A177-3AD203B41FA5}">
                      <a16:colId xmlns:a16="http://schemas.microsoft.com/office/drawing/2014/main" val="3493140917"/>
                    </a:ext>
                  </a:extLst>
                </a:gridCol>
              </a:tblGrid>
              <a:tr h="5307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Bell MT" panose="02020503060305020303" pitchFamily="18" charset="0"/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Bell MT" panose="02020503060305020303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Bell MT" panose="02020503060305020303" pitchFamily="18" charset="0"/>
                        </a:rPr>
                        <a:t>Syntax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514758"/>
                  </a:ext>
                </a:extLst>
              </a:tr>
              <a:tr h="1380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Bell MT" panose="02020503060305020303" pitchFamily="18" charset="0"/>
                        </a:rPr>
                        <a:t>CROSSFILTER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Bell MT" panose="02020503060305020303" pitchFamily="18" charset="0"/>
                        </a:rPr>
                        <a:t>Specifies cross-filter direction for relationship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Bell MT" panose="02020503060305020303" pitchFamily="18" charset="0"/>
                        </a:rPr>
                        <a:t>CROSSFILTER(LeftColumnName, RightColumnName, CrossFilterType)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353110"/>
                  </a:ext>
                </a:extLst>
              </a:tr>
              <a:tr h="955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Bell MT" panose="02020503060305020303" pitchFamily="18" charset="0"/>
                        </a:rPr>
                        <a:t>RELATED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Bell MT" panose="02020503060305020303" pitchFamily="18" charset="0"/>
                        </a:rPr>
                        <a:t>Retrieves related value from another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Bell MT" panose="02020503060305020303" pitchFamily="18" charset="0"/>
                        </a:rPr>
                        <a:t>RELATED(ColumnName)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005755"/>
                  </a:ext>
                </a:extLst>
              </a:tr>
              <a:tr h="955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Bell MT" panose="02020503060305020303" pitchFamily="18" charset="0"/>
                        </a:rPr>
                        <a:t>RELATEDTABLE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Bell MT" panose="02020503060305020303" pitchFamily="18" charset="0"/>
                        </a:rPr>
                        <a:t>Returns table expression modified by filters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Bell MT" panose="02020503060305020303" pitchFamily="18" charset="0"/>
                        </a:rPr>
                        <a:t>RELATEDTABLE(TableName)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677167"/>
                  </a:ext>
                </a:extLst>
              </a:tr>
              <a:tr h="955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Bell MT" panose="02020503060305020303" pitchFamily="18" charset="0"/>
                        </a:rPr>
                        <a:t>USERELATIONSHIP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Bell MT" panose="02020503060305020303" pitchFamily="18" charset="0"/>
                        </a:rPr>
                        <a:t>Specifies relationship for a calculation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Bell MT" panose="02020503060305020303" pitchFamily="18" charset="0"/>
                        </a:rPr>
                        <a:t>USERELATIONSHIP(ColumnName1, ColumnName2)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151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69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C8655-66AE-55FE-A248-6785B88E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445"/>
            <a:ext cx="10515600" cy="84391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5400" dirty="0">
                <a:latin typeface="Bell MT" panose="02020503060305020303" pitchFamily="18" charset="0"/>
              </a:rPr>
              <a:t>Table Manipulation Functions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0407DB-5F80-AF44-803E-85B5208B0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903377"/>
              </p:ext>
            </p:extLst>
          </p:nvPr>
        </p:nvGraphicFramePr>
        <p:xfrm>
          <a:off x="391159" y="975360"/>
          <a:ext cx="11409681" cy="5618480"/>
        </p:xfrm>
        <a:graphic>
          <a:graphicData uri="http://schemas.openxmlformats.org/drawingml/2006/table">
            <a:tbl>
              <a:tblPr/>
              <a:tblGrid>
                <a:gridCol w="2875280">
                  <a:extLst>
                    <a:ext uri="{9D8B030D-6E8A-4147-A177-3AD203B41FA5}">
                      <a16:colId xmlns:a16="http://schemas.microsoft.com/office/drawing/2014/main" val="1328051071"/>
                    </a:ext>
                  </a:extLst>
                </a:gridCol>
                <a:gridCol w="4287520">
                  <a:extLst>
                    <a:ext uri="{9D8B030D-6E8A-4147-A177-3AD203B41FA5}">
                      <a16:colId xmlns:a16="http://schemas.microsoft.com/office/drawing/2014/main" val="1573261382"/>
                    </a:ext>
                  </a:extLst>
                </a:gridCol>
                <a:gridCol w="4246881">
                  <a:extLst>
                    <a:ext uri="{9D8B030D-6E8A-4147-A177-3AD203B41FA5}">
                      <a16:colId xmlns:a16="http://schemas.microsoft.com/office/drawing/2014/main" val="738728809"/>
                    </a:ext>
                  </a:extLst>
                </a:gridCol>
              </a:tblGrid>
              <a:tr h="3723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Bell MT" panose="02020503060305020303" pitchFamily="18" charset="0"/>
                        </a:rPr>
                        <a:t>Function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Bell MT" panose="02020503060305020303" pitchFamily="18" charset="0"/>
                        </a:rPr>
                        <a:t>Description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Bell MT" panose="02020503060305020303" pitchFamily="18" charset="0"/>
                        </a:rPr>
                        <a:t>Syntax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639606"/>
                  </a:ext>
                </a:extLst>
              </a:tr>
              <a:tr h="1032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ell MT" panose="02020503060305020303" pitchFamily="18" charset="0"/>
                        </a:rPr>
                        <a:t>ADDCOLUMNS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Bell MT" panose="02020503060305020303" pitchFamily="18" charset="0"/>
                        </a:rPr>
                        <a:t>Adds calculated columns to a table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Bell MT" panose="02020503060305020303" pitchFamily="18" charset="0"/>
                        </a:rPr>
                        <a:t>ADDCOLUMNS(Table, Name1, Expression1, Name2, Expression2)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065975"/>
                  </a:ext>
                </a:extLst>
              </a:tr>
              <a:tr h="372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ell MT" panose="02020503060305020303" pitchFamily="18" charset="0"/>
                        </a:rPr>
                        <a:t>CROSSJOIN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ell MT" panose="02020503060305020303" pitchFamily="18" charset="0"/>
                        </a:rPr>
                        <a:t>Cartesian product of tables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ell MT" panose="02020503060305020303" pitchFamily="18" charset="0"/>
                        </a:rPr>
                        <a:t>CROSSJOIN(Table1, …)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302925"/>
                  </a:ext>
                </a:extLst>
              </a:tr>
              <a:tr h="702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ell MT" panose="02020503060305020303" pitchFamily="18" charset="0"/>
                        </a:rPr>
                        <a:t>EXCEPT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Bell MT" panose="02020503060305020303" pitchFamily="18" charset="0"/>
                        </a:rPr>
                        <a:t>Returns rows in one table not present in another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ell MT" panose="02020503060305020303" pitchFamily="18" charset="0"/>
                        </a:rPr>
                        <a:t>EXCEPT(LeftTable, RightTable)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027792"/>
                  </a:ext>
                </a:extLst>
              </a:tr>
              <a:tr h="702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ell MT" panose="02020503060305020303" pitchFamily="18" charset="0"/>
                        </a:rPr>
                        <a:t>GENERATESERIES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Bell MT" panose="02020503060305020303" pitchFamily="18" charset="0"/>
                        </a:rPr>
                        <a:t>Creates table with arithmetic series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Bell MT" panose="02020503060305020303" pitchFamily="18" charset="0"/>
                        </a:rPr>
                        <a:t>GENERATESERIES(StartValue, EndValue, IncrementValue)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460011"/>
                  </a:ext>
                </a:extLst>
              </a:tr>
              <a:tr h="1032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ell MT" panose="02020503060305020303" pitchFamily="18" charset="0"/>
                        </a:rPr>
                        <a:t>GROUPBY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Bell MT" panose="02020503060305020303" pitchFamily="18" charset="0"/>
                        </a:rPr>
                        <a:t>Groups rows similar to SUMMARIZE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Bell MT" panose="02020503060305020303" pitchFamily="18" charset="0"/>
                        </a:rPr>
                        <a:t>GROUPBY(Table, GroupByColumnName, Name1, Expression1)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666070"/>
                  </a:ext>
                </a:extLst>
              </a:tr>
              <a:tr h="702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ell MT" panose="02020503060305020303" pitchFamily="18" charset="0"/>
                        </a:rPr>
                        <a:t>INTERSECT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Bell MT" panose="02020503060305020303" pitchFamily="18" charset="0"/>
                        </a:rPr>
                        <a:t>Returns common rows from two tables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ell MT" panose="02020503060305020303" pitchFamily="18" charset="0"/>
                        </a:rPr>
                        <a:t>INTERSECT(LeftTable, RightTable)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256760"/>
                  </a:ext>
                </a:extLst>
              </a:tr>
              <a:tr h="702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ell MT" panose="02020503060305020303" pitchFamily="18" charset="0"/>
                        </a:rPr>
                        <a:t>NATURALINNERJOIN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Bell MT" panose="02020503060305020303" pitchFamily="18" charset="0"/>
                        </a:rPr>
                        <a:t>Join tables using inner join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Bell MT" panose="02020503060305020303" pitchFamily="18" charset="0"/>
                        </a:rPr>
                        <a:t>NATURALINNERJOIN(LeftTable, RightTable)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718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296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A82641-BE0A-47F7-0797-765B01305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125567"/>
              </p:ext>
            </p:extLst>
          </p:nvPr>
        </p:nvGraphicFramePr>
        <p:xfrm>
          <a:off x="457200" y="260984"/>
          <a:ext cx="11297919" cy="6200776"/>
        </p:xfrm>
        <a:graphic>
          <a:graphicData uri="http://schemas.openxmlformats.org/drawingml/2006/table">
            <a:tbl>
              <a:tblPr/>
              <a:tblGrid>
                <a:gridCol w="3765973">
                  <a:extLst>
                    <a:ext uri="{9D8B030D-6E8A-4147-A177-3AD203B41FA5}">
                      <a16:colId xmlns:a16="http://schemas.microsoft.com/office/drawing/2014/main" val="3188510562"/>
                    </a:ext>
                  </a:extLst>
                </a:gridCol>
                <a:gridCol w="3765973">
                  <a:extLst>
                    <a:ext uri="{9D8B030D-6E8A-4147-A177-3AD203B41FA5}">
                      <a16:colId xmlns:a16="http://schemas.microsoft.com/office/drawing/2014/main" val="4215905028"/>
                    </a:ext>
                  </a:extLst>
                </a:gridCol>
                <a:gridCol w="3765973">
                  <a:extLst>
                    <a:ext uri="{9D8B030D-6E8A-4147-A177-3AD203B41FA5}">
                      <a16:colId xmlns:a16="http://schemas.microsoft.com/office/drawing/2014/main" val="3011674369"/>
                    </a:ext>
                  </a:extLst>
                </a:gridCol>
              </a:tblGrid>
              <a:tr h="4015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Bell MT" panose="02020503060305020303" pitchFamily="18" charset="0"/>
                        </a:rPr>
                        <a:t>Function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Bell MT" panose="02020503060305020303" pitchFamily="18" charset="0"/>
                        </a:rPr>
                        <a:t>Description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Bell MT" panose="02020503060305020303" pitchFamily="18" charset="0"/>
                        </a:rPr>
                        <a:t>Syntax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599884"/>
                  </a:ext>
                </a:extLst>
              </a:tr>
              <a:tr h="828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ell MT" panose="02020503060305020303" pitchFamily="18" charset="0"/>
                        </a:rPr>
                        <a:t>NATURALLEFTOUTERJOIN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ell MT" panose="02020503060305020303" pitchFamily="18" charset="0"/>
                        </a:rPr>
                        <a:t>Left outer join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ell MT" panose="02020503060305020303" pitchFamily="18" charset="0"/>
                        </a:rPr>
                        <a:t>NATURALLEFTOUTERJOIN(LeftTable, RightTable)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309283"/>
                  </a:ext>
                </a:extLst>
              </a:tr>
              <a:tr h="437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ell MT" panose="02020503060305020303" pitchFamily="18" charset="0"/>
                        </a:rPr>
                        <a:t>ROW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Bell MT" panose="02020503060305020303" pitchFamily="18" charset="0"/>
                        </a:rPr>
                        <a:t>Returns table with single row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ell MT" panose="02020503060305020303" pitchFamily="18" charset="0"/>
                        </a:rPr>
                        <a:t>ROW(Name1, Expression1, …)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453705"/>
                  </a:ext>
                </a:extLst>
              </a:tr>
              <a:tr h="121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ell MT" panose="02020503060305020303" pitchFamily="18" charset="0"/>
                        </a:rPr>
                        <a:t>SELECTCOLUMNS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Bell MT" panose="02020503060305020303" pitchFamily="18" charset="0"/>
                        </a:rPr>
                        <a:t>Returns table with selected columns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Bell MT" panose="02020503060305020303" pitchFamily="18" charset="0"/>
                        </a:rPr>
                        <a:t>SELECTCOLUMNS(Table, Name1, Expression1, Name2, Expression2)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408889"/>
                  </a:ext>
                </a:extLst>
              </a:tr>
              <a:tr h="121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ell MT" panose="02020503060305020303" pitchFamily="18" charset="0"/>
                        </a:rPr>
                        <a:t>SUMMARIZE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ell MT" panose="02020503060305020303" pitchFamily="18" charset="0"/>
                        </a:rPr>
                        <a:t>Returns summary table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Bell MT" panose="02020503060305020303" pitchFamily="18" charset="0"/>
                        </a:rPr>
                        <a:t>SUMMARIZE(Table, GroupByColumnName, Name1, Expression1)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532349"/>
                  </a:ext>
                </a:extLst>
              </a:tr>
              <a:tr h="828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ell MT" panose="02020503060305020303" pitchFamily="18" charset="0"/>
                        </a:rPr>
                        <a:t>TREATAS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ell MT" panose="02020503060305020303" pitchFamily="18" charset="0"/>
                        </a:rPr>
                        <a:t>Applies table expression as filters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ell MT" panose="02020503060305020303" pitchFamily="18" charset="0"/>
                        </a:rPr>
                        <a:t>TREATAS(Expression, ColumnName1, …)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534474"/>
                  </a:ext>
                </a:extLst>
              </a:tr>
              <a:tr h="437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ell MT" panose="02020503060305020303" pitchFamily="18" charset="0"/>
                        </a:rPr>
                        <a:t>UNION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ell MT" panose="02020503060305020303" pitchFamily="18" charset="0"/>
                        </a:rPr>
                        <a:t>Combines tables vertically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ell MT" panose="02020503060305020303" pitchFamily="18" charset="0"/>
                        </a:rPr>
                        <a:t>UNION(Table1, Table2)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127295"/>
                  </a:ext>
                </a:extLst>
              </a:tr>
              <a:tr h="828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Bell MT" panose="02020503060305020303" pitchFamily="18" charset="0"/>
                        </a:rPr>
                        <a:t>VALUES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Bell MT" panose="02020503060305020303" pitchFamily="18" charset="0"/>
                        </a:rPr>
                        <a:t>Returns unique values from column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Bell MT" panose="02020503060305020303" pitchFamily="18" charset="0"/>
                        </a:rPr>
                        <a:t>VALUES(TableName or ColumnName)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960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957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E40EE-C65A-2311-0287-22C6D38EC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759"/>
            <a:ext cx="10515600" cy="915035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Bell MT" panose="02020503060305020303" pitchFamily="18" charset="0"/>
              </a:rPr>
              <a:t>Time Intelligence Functions</a:t>
            </a:r>
            <a:endParaRPr lang="en-IN" sz="5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A9D266-71AB-C4EA-3DFB-9B7ACAC81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311053"/>
              </p:ext>
            </p:extLst>
          </p:nvPr>
        </p:nvGraphicFramePr>
        <p:xfrm>
          <a:off x="350520" y="1026794"/>
          <a:ext cx="11490960" cy="5538706"/>
        </p:xfrm>
        <a:graphic>
          <a:graphicData uri="http://schemas.openxmlformats.org/drawingml/2006/table">
            <a:tbl>
              <a:tblPr/>
              <a:tblGrid>
                <a:gridCol w="2849880">
                  <a:extLst>
                    <a:ext uri="{9D8B030D-6E8A-4147-A177-3AD203B41FA5}">
                      <a16:colId xmlns:a16="http://schemas.microsoft.com/office/drawing/2014/main" val="763132428"/>
                    </a:ext>
                  </a:extLst>
                </a:gridCol>
                <a:gridCol w="3820160">
                  <a:extLst>
                    <a:ext uri="{9D8B030D-6E8A-4147-A177-3AD203B41FA5}">
                      <a16:colId xmlns:a16="http://schemas.microsoft.com/office/drawing/2014/main" val="1320686361"/>
                    </a:ext>
                  </a:extLst>
                </a:gridCol>
                <a:gridCol w="4820920">
                  <a:extLst>
                    <a:ext uri="{9D8B030D-6E8A-4147-A177-3AD203B41FA5}">
                      <a16:colId xmlns:a16="http://schemas.microsoft.com/office/drawing/2014/main" val="2024464092"/>
                    </a:ext>
                  </a:extLst>
                </a:gridCol>
              </a:tblGrid>
              <a:tr h="385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Bell MT" panose="02020503060305020303" pitchFamily="18" charset="0"/>
                        </a:rPr>
                        <a:t>Function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Bell MT" panose="02020503060305020303" pitchFamily="18" charset="0"/>
                        </a:rPr>
                        <a:t>Description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Bell MT" panose="02020503060305020303" pitchFamily="18" charset="0"/>
                        </a:rPr>
                        <a:t>Syntax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526824"/>
                  </a:ext>
                </a:extLst>
              </a:tr>
              <a:tr h="568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ell MT" panose="02020503060305020303" pitchFamily="18" charset="0"/>
                        </a:rPr>
                        <a:t>DATEADD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Bell MT" panose="02020503060305020303" pitchFamily="18" charset="0"/>
                        </a:rPr>
                        <a:t>Returns dates shifted by interval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ell MT" panose="02020503060305020303" pitchFamily="18" charset="0"/>
                        </a:rPr>
                        <a:t>DATEADD(Dates, NumberOfIntervals, Interval)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20235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ell MT" panose="02020503060305020303" pitchFamily="18" charset="0"/>
                        </a:rPr>
                        <a:t>DATESBETWEEN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Bell MT" panose="02020503060305020303" pitchFamily="18" charset="0"/>
                        </a:rPr>
                        <a:t>Returns dates between two dates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ell MT" panose="02020503060305020303" pitchFamily="18" charset="0"/>
                        </a:rPr>
                        <a:t>DATESBETWEEN(Dates, StartDate, EndDate)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605778"/>
                  </a:ext>
                </a:extLst>
              </a:tr>
              <a:tr h="904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ell MT" panose="02020503060305020303" pitchFamily="18" charset="0"/>
                        </a:rPr>
                        <a:t>DATESINPERIOD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Bell MT" panose="02020503060305020303" pitchFamily="18" charset="0"/>
                        </a:rPr>
                        <a:t>Returns dates from a specified period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ell MT" panose="02020503060305020303" pitchFamily="18" charset="0"/>
                        </a:rPr>
                        <a:t>DATESINPERIOD(Dates, StartDate, NumberOfIntervals, Interval)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900943"/>
                  </a:ext>
                </a:extLst>
              </a:tr>
              <a:tr h="706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ell MT" panose="02020503060305020303" pitchFamily="18" charset="0"/>
                        </a:rPr>
                        <a:t>PARALLELPERIOD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Bell MT" panose="02020503060305020303" pitchFamily="18" charset="0"/>
                        </a:rPr>
                        <a:t>Returns dates parallel to specified column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ell MT" panose="02020503060305020303" pitchFamily="18" charset="0"/>
                        </a:rPr>
                        <a:t>PARALLELPERIOD(Dates, NumberOfIntervals, Interval)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672847"/>
                  </a:ext>
                </a:extLst>
              </a:tr>
              <a:tr h="451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ell MT" panose="02020503060305020303" pitchFamily="18" charset="0"/>
                        </a:rPr>
                        <a:t>SAMEPERIODLASTYEAR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Bell MT" panose="02020503060305020303" pitchFamily="18" charset="0"/>
                        </a:rPr>
                        <a:t>Returns same period last year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ell MT" panose="02020503060305020303" pitchFamily="18" charset="0"/>
                        </a:rPr>
                        <a:t>SAMEPERIODLASTYEAR(Dates)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89592"/>
                  </a:ext>
                </a:extLst>
              </a:tr>
              <a:tr h="706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ell MT" panose="02020503060305020303" pitchFamily="18" charset="0"/>
                        </a:rPr>
                        <a:t>TOTALYTD / TOTALQTD / TOTALMTD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Bell MT" panose="02020503060305020303" pitchFamily="18" charset="0"/>
                        </a:rPr>
                        <a:t>Calculates totals for YTD, QTD, MTD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Bell MT" panose="02020503060305020303" pitchFamily="18" charset="0"/>
                        </a:rPr>
                        <a:t>TOTALYTD(Expression, Dates, [Filter], [YearEndDate])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908948"/>
                  </a:ext>
                </a:extLst>
              </a:tr>
              <a:tr h="1027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Bell MT" panose="02020503060305020303" pitchFamily="18" charset="0"/>
                        </a:rPr>
                        <a:t>PREVIOUSYEAR / PREVIOUSQUARTER / PREVIOUSMONTH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Bell MT" panose="02020503060305020303" pitchFamily="18" charset="0"/>
                        </a:rPr>
                        <a:t>Returns period from previous year, quarter, or month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Bell MT" panose="02020503060305020303" pitchFamily="18" charset="0"/>
                        </a:rPr>
                        <a:t>PREVIOUSYEAR(Date) etc.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444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166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7412D-9291-C6EA-A0C3-8BFA561C5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285"/>
            <a:ext cx="10515600" cy="82359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5400" dirty="0">
                <a:latin typeface="Bell MT" panose="02020503060305020303" pitchFamily="18" charset="0"/>
              </a:rPr>
              <a:t>Information Functions</a:t>
            </a:r>
            <a:endParaRPr lang="en-IN" sz="5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2CD98E-544C-9555-3681-FB8ECFDB4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796590"/>
              </p:ext>
            </p:extLst>
          </p:nvPr>
        </p:nvGraphicFramePr>
        <p:xfrm>
          <a:off x="370840" y="944880"/>
          <a:ext cx="11450319" cy="5486400"/>
        </p:xfrm>
        <a:graphic>
          <a:graphicData uri="http://schemas.openxmlformats.org/drawingml/2006/table">
            <a:tbl>
              <a:tblPr/>
              <a:tblGrid>
                <a:gridCol w="3281680">
                  <a:extLst>
                    <a:ext uri="{9D8B030D-6E8A-4147-A177-3AD203B41FA5}">
                      <a16:colId xmlns:a16="http://schemas.microsoft.com/office/drawing/2014/main" val="478489336"/>
                    </a:ext>
                  </a:extLst>
                </a:gridCol>
                <a:gridCol w="4351866">
                  <a:extLst>
                    <a:ext uri="{9D8B030D-6E8A-4147-A177-3AD203B41FA5}">
                      <a16:colId xmlns:a16="http://schemas.microsoft.com/office/drawing/2014/main" val="3268901227"/>
                    </a:ext>
                  </a:extLst>
                </a:gridCol>
                <a:gridCol w="3816773">
                  <a:extLst>
                    <a:ext uri="{9D8B030D-6E8A-4147-A177-3AD203B41FA5}">
                      <a16:colId xmlns:a16="http://schemas.microsoft.com/office/drawing/2014/main" val="8552448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Bell MT" panose="02020503060305020303" pitchFamily="18" charset="0"/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Bell MT" panose="02020503060305020303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Bell MT" panose="02020503060305020303" pitchFamily="18" charset="0"/>
                        </a:rPr>
                        <a:t>Syntax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621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Bell MT" panose="02020503060305020303" pitchFamily="18" charset="0"/>
                        </a:rPr>
                        <a:t>HASONEVALUE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Bell MT" panose="02020503060305020303" pitchFamily="18" charset="0"/>
                        </a:rPr>
                        <a:t>Returns TRUE if context has one distinct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Bell MT" panose="02020503060305020303" pitchFamily="18" charset="0"/>
                        </a:rPr>
                        <a:t>HASONEVALUE(ColumnName)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376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Bell MT" panose="02020503060305020303" pitchFamily="18" charset="0"/>
                        </a:rPr>
                        <a:t>ISBLANK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Bell MT" panose="02020503060305020303" pitchFamily="18" charset="0"/>
                        </a:rPr>
                        <a:t>Checks if value is blank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Bell MT" panose="02020503060305020303" pitchFamily="18" charset="0"/>
                        </a:rPr>
                        <a:t>ISBLANK(Value)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044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Bell MT" panose="02020503060305020303" pitchFamily="18" charset="0"/>
                        </a:rPr>
                        <a:t>ISCROSSFILTERED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Bell MT" panose="02020503060305020303" pitchFamily="18" charset="0"/>
                        </a:rPr>
                        <a:t>Checks if column/table is cross filtered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Bell MT" panose="02020503060305020303" pitchFamily="18" charset="0"/>
                        </a:rPr>
                        <a:t>ISCROSSFILTERED(ColumnName or TableName)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665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Bell MT" panose="02020503060305020303" pitchFamily="18" charset="0"/>
                        </a:rPr>
                        <a:t>ISERROR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Bell MT" panose="02020503060305020303" pitchFamily="18" charset="0"/>
                        </a:rPr>
                        <a:t>Checks if value is an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Bell MT" panose="02020503060305020303" pitchFamily="18" charset="0"/>
                        </a:rPr>
                        <a:t>ISERROR(Value)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875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Bell MT" panose="02020503060305020303" pitchFamily="18" charset="0"/>
                        </a:rPr>
                        <a:t>ISFILTERED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Bell MT" panose="02020503060305020303" pitchFamily="18" charset="0"/>
                        </a:rPr>
                        <a:t>Returns TRUE if column/table is directly filtered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Bell MT" panose="02020503060305020303" pitchFamily="18" charset="0"/>
                        </a:rPr>
                        <a:t>ISFILTERED(ColumnName or TableName)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327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Bell MT" panose="02020503060305020303" pitchFamily="18" charset="0"/>
                        </a:rPr>
                        <a:t>ISINSCOPE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Bell MT" panose="02020503060305020303" pitchFamily="18" charset="0"/>
                        </a:rPr>
                        <a:t>Returns TRUE if column is in hierarchy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Bell MT" panose="02020503060305020303" pitchFamily="18" charset="0"/>
                        </a:rPr>
                        <a:t>ISINSCOPE(ColumnName)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412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Bell MT" panose="02020503060305020303" pitchFamily="18" charset="0"/>
                        </a:rPr>
                        <a:t>SELECTEDMEASURE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Bell MT" panose="02020503060305020303" pitchFamily="18" charset="0"/>
                        </a:rPr>
                        <a:t>Used in calculation groups to reference measure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Bell MT" panose="02020503060305020303" pitchFamily="18" charset="0"/>
                        </a:rPr>
                        <a:t>SELECTEDMEASURE()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624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160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1839</Words>
  <Application>Microsoft Office PowerPoint</Application>
  <PresentationFormat>Widescreen</PresentationFormat>
  <Paragraphs>318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Bell MT</vt:lpstr>
      <vt:lpstr>Calibri</vt:lpstr>
      <vt:lpstr>Calibri Light</vt:lpstr>
      <vt:lpstr>Office Theme</vt:lpstr>
      <vt:lpstr>Data Analysis Expressions (DAX)</vt:lpstr>
      <vt:lpstr>What is DAX</vt:lpstr>
      <vt:lpstr>Types of DAX Functions</vt:lpstr>
      <vt:lpstr>Aggregation Function</vt:lpstr>
      <vt:lpstr>Iterator Function</vt:lpstr>
      <vt:lpstr>Date &amp; Time Functions</vt:lpstr>
      <vt:lpstr>Logical Functions</vt:lpstr>
      <vt:lpstr>Text Functions</vt:lpstr>
      <vt:lpstr>Filter Functions</vt:lpstr>
      <vt:lpstr>Relationship Functions</vt:lpstr>
      <vt:lpstr>Table Manipulation Functions</vt:lpstr>
      <vt:lpstr>PowerPoint Presentation</vt:lpstr>
      <vt:lpstr>Time Intelligence Functions</vt:lpstr>
      <vt:lpstr>Information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Gavaskar S</dc:creator>
  <cp:lastModifiedBy>Gavaskar S</cp:lastModifiedBy>
  <cp:revision>4</cp:revision>
  <dcterms:created xsi:type="dcterms:W3CDTF">2026-03-15T07:38:25Z</dcterms:created>
  <dcterms:modified xsi:type="dcterms:W3CDTF">2026-03-19T04:57:10Z</dcterms:modified>
</cp:coreProperties>
</file>